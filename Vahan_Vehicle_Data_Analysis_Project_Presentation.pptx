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7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4241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ptos Display"/>
              </a:rPr>
              <a:t>VAHAN VEHICLE REGISTRATION
DATA ANALYSIS</a:t>
            </a:r>
          </a:p>
          <a:p>
            <a:r>
              <a:rPr sz="1800">
                <a:solidFill>
                  <a:srgbClr val="CDDCEB"/>
                </a:solidFill>
                <a:latin typeface="Aptos"/>
              </a:rPr>
              <a:t>Pandas  •  PostgreSQL / SQL  •  Power 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749039"/>
            <a:ext cx="96012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FFFFF"/>
                </a:solidFill>
              </a:rPr>
              <a:t>Vehicle fleet, registration trends and emission-profile analysis</a:t>
            </a:r>
          </a:p>
          <a:p>
            <a:r>
              <a:rPr sz="1200">
                <a:solidFill>
                  <a:srgbClr val="CDDCEB"/>
                </a:solidFill>
              </a:rPr>
              <a:t>Data Analysis Project —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6235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DDCEB"/>
                </a:solidFill>
              </a:rPr>
              <a:t>Prepared by Anurag Patil  |  B.Tech CSE (AI &amp; ML)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D48"/>
                </a:solidFill>
                <a:latin typeface="Aptos Display"/>
              </a:rPr>
              <a:t>1.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586069"/>
                </a:solidFill>
                <a:latin typeface="Aptos"/>
              </a:defRPr>
            </a:pPr>
            <a:r>
              <a:t>• Analyze Vahan vehicle-registration data to understand the composition and evolution of the registered fleet.</a:t>
            </a:r>
          </a:p>
          <a:p>
            <a:pPr>
              <a:spcAft>
                <a:spcPts val="1200"/>
              </a:spcAft>
              <a:defRPr sz="1800">
                <a:solidFill>
                  <a:srgbClr val="586069"/>
                </a:solidFill>
                <a:latin typeface="Aptos"/>
              </a:defRPr>
            </a:pPr>
            <a:r>
              <a:t>• Identify patterns across vehicle category, fuel type, state, manufacturer, registration year and vehicle age.</a:t>
            </a:r>
          </a:p>
          <a:p>
            <a:pPr>
              <a:spcAft>
                <a:spcPts val="1200"/>
              </a:spcAft>
              <a:defRPr sz="1800">
                <a:solidFill>
                  <a:srgbClr val="586069"/>
                </a:solidFill>
                <a:latin typeface="Aptos"/>
              </a:defRPr>
            </a:pPr>
            <a:r>
              <a:t>• Profile applicable Bharat Stage emission norms and examine their relationship with fuel type and vehicle category.</a:t>
            </a:r>
          </a:p>
          <a:p>
            <a:pPr>
              <a:spcAft>
                <a:spcPts val="1200"/>
              </a:spcAft>
              <a:defRPr sz="1800">
                <a:solidFill>
                  <a:srgbClr val="586069"/>
                </a:solidFill>
                <a:latin typeface="Aptos"/>
              </a:defRPr>
            </a:pPr>
            <a:r>
              <a:t>• Create a reproducible analytics workflow using Python, PostgreSQL/SQL and Power BI.</a:t>
            </a:r>
          </a:p>
          <a:p>
            <a:pPr>
              <a:spcAft>
                <a:spcPts val="1200"/>
              </a:spcAft>
              <a:defRPr sz="1800">
                <a:solidFill>
                  <a:srgbClr val="586069"/>
                </a:solidFill>
                <a:latin typeface="Aptos"/>
              </a:defRPr>
            </a:pPr>
            <a:r>
              <a:t>• Establish a reliable baseline for future activity-based vehicle-emission analysis.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8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62025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</a:rPr>
              <a:t>Vahan Vehicle Registration Data Analysis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D48"/>
                </a:solidFill>
                <a:latin typeface="Aptos Display"/>
              </a:rPr>
              <a:t>2.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586069"/>
                </a:solidFill>
                <a:latin typeface="Aptos"/>
              </a:defRPr>
            </a:pPr>
            <a:r>
              <a:t>• Clean and standardize the source data before analysis.</a:t>
            </a:r>
          </a:p>
          <a:p>
            <a:pPr>
              <a:spcAft>
                <a:spcPts val="1200"/>
              </a:spcAft>
              <a:defRPr sz="1700">
                <a:solidFill>
                  <a:srgbClr val="586069"/>
                </a:solidFill>
                <a:latin typeface="Aptos"/>
              </a:defRPr>
            </a:pPr>
            <a:r>
              <a:t>• Validate data quality, missing values, data types and inconsistent classifications.</a:t>
            </a:r>
          </a:p>
          <a:p>
            <a:pPr>
              <a:spcAft>
                <a:spcPts val="1200"/>
              </a:spcAft>
              <a:defRPr sz="1700">
                <a:solidFill>
                  <a:srgbClr val="586069"/>
                </a:solidFill>
                <a:latin typeface="Aptos"/>
              </a:defRPr>
            </a:pPr>
            <a:r>
              <a:t>• Perform analytical queries and aggregations in PostgreSQL using SQL.</a:t>
            </a:r>
          </a:p>
          <a:p>
            <a:pPr>
              <a:spcAft>
                <a:spcPts val="1200"/>
              </a:spcAft>
              <a:defRPr sz="1700">
                <a:solidFill>
                  <a:srgbClr val="586069"/>
                </a:solidFill>
                <a:latin typeface="Aptos"/>
              </a:defRPr>
            </a:pPr>
            <a:r>
              <a:t>• Build dynamic Power BI measures, slicers and interactive visuals.</a:t>
            </a:r>
          </a:p>
          <a:p>
            <a:pPr>
              <a:spcAft>
                <a:spcPts val="1200"/>
              </a:spcAft>
              <a:defRPr sz="1700">
                <a:solidFill>
                  <a:srgbClr val="586069"/>
                </a:solidFill>
                <a:latin typeface="Aptos"/>
              </a:defRPr>
            </a:pPr>
            <a:r>
              <a:t>• Separate pure EVs from conventional BS3/BS4/BS6 and ICE engine-displacement analysis.</a:t>
            </a:r>
          </a:p>
          <a:p>
            <a:pPr>
              <a:spcAft>
                <a:spcPts val="1200"/>
              </a:spcAft>
              <a:defRPr sz="1700">
                <a:solidFill>
                  <a:srgbClr val="586069"/>
                </a:solidFill>
                <a:latin typeface="Aptos"/>
              </a:defRPr>
            </a:pPr>
            <a:r>
              <a:t>• Identify fleet segments and geographic patterns relevant to future emission-reduction studies.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8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62025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</a:rPr>
              <a:t>Vahan Vehicle Registration Data Analysis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D48"/>
                </a:solidFill>
                <a:latin typeface="Aptos Display"/>
              </a:rPr>
              <a:t>3. End-to-End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2057400"/>
            <a:ext cx="20116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4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2057400"/>
            <a:ext cx="73152" cy="1508760"/>
          </a:xfrm>
          <a:prstGeom prst="rect">
            <a:avLst/>
          </a:prstGeom>
          <a:solidFill>
            <a:srgbClr val="30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2221992"/>
            <a:ext cx="16916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D48"/>
                </a:solidFill>
                <a:latin typeface="Aptos Display"/>
              </a:rPr>
              <a:t>1</a:t>
            </a:r>
          </a:p>
          <a:p>
            <a:r>
              <a:rPr sz="1000">
                <a:solidFill>
                  <a:srgbClr val="586069"/>
                </a:solidFill>
                <a:latin typeface="Aptos"/>
              </a:rPr>
              <a:t>Pandas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70332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586069"/>
                </a:solidFill>
              </a:rPr>
              <a:t>Cleaning &amp; preprocessing</a:t>
            </a:r>
          </a:p>
        </p:txBody>
      </p:sp>
      <p:sp>
        <p:nvSpPr>
          <p:cNvPr id="7" name="Chevron 6"/>
          <p:cNvSpPr/>
          <p:nvPr/>
        </p:nvSpPr>
        <p:spPr>
          <a:xfrm>
            <a:off x="2624328" y="2542032"/>
            <a:ext cx="256032" cy="502920"/>
          </a:xfrm>
          <a:prstGeom prst="chevron">
            <a:avLst/>
          </a:prstGeom>
          <a:solidFill>
            <a:srgbClr val="E4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98648" y="2057400"/>
            <a:ext cx="20116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4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98648" y="2057400"/>
            <a:ext cx="73152" cy="1508760"/>
          </a:xfrm>
          <a:prstGeom prst="rect">
            <a:avLst/>
          </a:prstGeom>
          <a:solidFill>
            <a:srgbClr val="2E7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99816" y="2221992"/>
            <a:ext cx="16916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D48"/>
                </a:solidFill>
                <a:latin typeface="Aptos Display"/>
              </a:rPr>
              <a:t>2</a:t>
            </a:r>
          </a:p>
          <a:p>
            <a:r>
              <a:rPr sz="1000">
                <a:solidFill>
                  <a:srgbClr val="586069"/>
                </a:solidFill>
                <a:latin typeface="Aptos"/>
              </a:rPr>
              <a:t>PostgreSQL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98648" y="370332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586069"/>
                </a:solidFill>
              </a:rPr>
              <a:t>Database storage</a:t>
            </a:r>
          </a:p>
        </p:txBody>
      </p:sp>
      <p:sp>
        <p:nvSpPr>
          <p:cNvPr id="12" name="Chevron 11"/>
          <p:cNvSpPr/>
          <p:nvPr/>
        </p:nvSpPr>
        <p:spPr>
          <a:xfrm>
            <a:off x="4928616" y="2542032"/>
            <a:ext cx="256032" cy="502920"/>
          </a:xfrm>
          <a:prstGeom prst="chevron">
            <a:avLst/>
          </a:prstGeom>
          <a:solidFill>
            <a:srgbClr val="E4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02936" y="2057400"/>
            <a:ext cx="20116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4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02936" y="2057400"/>
            <a:ext cx="73152" cy="1508760"/>
          </a:xfrm>
          <a:prstGeom prst="rect">
            <a:avLst/>
          </a:prstGeom>
          <a:solidFill>
            <a:srgbClr val="30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04104" y="2221992"/>
            <a:ext cx="16916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D48"/>
                </a:solidFill>
                <a:latin typeface="Aptos Display"/>
              </a:rPr>
              <a:t>3</a:t>
            </a:r>
          </a:p>
          <a:p>
            <a:r>
              <a:rPr sz="1000">
                <a:solidFill>
                  <a:srgbClr val="586069"/>
                </a:solidFill>
                <a:latin typeface="Aptos"/>
              </a:rPr>
              <a:t>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02936" y="370332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586069"/>
                </a:solidFill>
              </a:rPr>
              <a:t>Analytical queries</a:t>
            </a:r>
          </a:p>
        </p:txBody>
      </p:sp>
      <p:sp>
        <p:nvSpPr>
          <p:cNvPr id="17" name="Chevron 16"/>
          <p:cNvSpPr/>
          <p:nvPr/>
        </p:nvSpPr>
        <p:spPr>
          <a:xfrm>
            <a:off x="7232904" y="2542032"/>
            <a:ext cx="256032" cy="502920"/>
          </a:xfrm>
          <a:prstGeom prst="chevron">
            <a:avLst/>
          </a:prstGeom>
          <a:solidFill>
            <a:srgbClr val="E4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507224" y="2057400"/>
            <a:ext cx="20116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4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07224" y="2057400"/>
            <a:ext cx="73152" cy="1508760"/>
          </a:xfrm>
          <a:prstGeom prst="rect">
            <a:avLst/>
          </a:prstGeom>
          <a:solidFill>
            <a:srgbClr val="2E7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08392" y="2221992"/>
            <a:ext cx="16916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D48"/>
                </a:solidFill>
                <a:latin typeface="Aptos Display"/>
              </a:rPr>
              <a:t>4</a:t>
            </a:r>
          </a:p>
          <a:p>
            <a:r>
              <a:rPr sz="1000">
                <a:solidFill>
                  <a:srgbClr val="586069"/>
                </a:solidFill>
                <a:latin typeface="Aptos"/>
              </a:rPr>
              <a:t>Power BI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07224" y="370332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586069"/>
                </a:solidFill>
              </a:rPr>
              <a:t>Modeling &amp; DAX</a:t>
            </a:r>
          </a:p>
        </p:txBody>
      </p:sp>
      <p:sp>
        <p:nvSpPr>
          <p:cNvPr id="22" name="Chevron 21"/>
          <p:cNvSpPr/>
          <p:nvPr/>
        </p:nvSpPr>
        <p:spPr>
          <a:xfrm>
            <a:off x="9537192" y="2542032"/>
            <a:ext cx="256032" cy="502920"/>
          </a:xfrm>
          <a:prstGeom prst="chevron">
            <a:avLst/>
          </a:prstGeom>
          <a:solidFill>
            <a:srgbClr val="E4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11512" y="2057400"/>
            <a:ext cx="20116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4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811512" y="2057400"/>
            <a:ext cx="73152" cy="1508760"/>
          </a:xfrm>
          <a:prstGeom prst="rect">
            <a:avLst/>
          </a:prstGeom>
          <a:solidFill>
            <a:srgbClr val="30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12680" y="2221992"/>
            <a:ext cx="16916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D48"/>
                </a:solidFill>
                <a:latin typeface="Aptos Display"/>
              </a:rPr>
              <a:t>5</a:t>
            </a:r>
          </a:p>
          <a:p>
            <a:r>
              <a:rPr sz="1000">
                <a:solidFill>
                  <a:srgbClr val="586069"/>
                </a:solidFill>
                <a:latin typeface="Aptos"/>
              </a:rPr>
              <a:t>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11512" y="370332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586069"/>
                </a:solidFill>
              </a:rPr>
              <a:t>Interactive insights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8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662025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</a:rPr>
              <a:t>Vahan Vehicle Registration Data Analysis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D48"/>
                </a:solidFill>
                <a:latin typeface="Aptos Display"/>
              </a:rPr>
              <a:t>4. Python / Pandas — Data Cleaning &amp;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586069"/>
                </a:solidFill>
                <a:latin typeface="Aptos"/>
              </a:defRPr>
            </a:pPr>
            <a:r>
              <a:t>• Removed duplicate records to prevent double counting.</a:t>
            </a:r>
          </a:p>
          <a:p>
            <a:pPr>
              <a:spcAft>
                <a:spcPts val="1200"/>
              </a:spcAft>
              <a:defRPr sz="1500">
                <a:solidFill>
                  <a:srgbClr val="586069"/>
                </a:solidFill>
                <a:latin typeface="Aptos"/>
              </a:defRPr>
            </a:pPr>
            <a:r>
              <a:t>• Converted Registration_Date to datetime and handled invalid formats using validation/coercion.</a:t>
            </a:r>
          </a:p>
          <a:p>
            <a:pPr>
              <a:spcAft>
                <a:spcPts val="1200"/>
              </a:spcAft>
              <a:defRPr sz="1500">
                <a:solidFill>
                  <a:srgbClr val="586069"/>
                </a:solidFill>
                <a:latin typeface="Aptos"/>
              </a:defRPr>
            </a:pPr>
            <a:r>
              <a:t>• Created/used cleaned state fields for consistent geographic aggregation.</a:t>
            </a:r>
          </a:p>
          <a:p>
            <a:pPr>
              <a:spcAft>
                <a:spcPts val="1200"/>
              </a:spcAft>
              <a:defRPr sz="1500">
                <a:solidFill>
                  <a:srgbClr val="586069"/>
                </a:solidFill>
                <a:latin typeface="Aptos"/>
              </a:defRPr>
            </a:pPr>
            <a:r>
              <a:t>• Created Fuel_Type_Clean to standardize fuel classification.</a:t>
            </a:r>
          </a:p>
          <a:p>
            <a:pPr>
              <a:spcAft>
                <a:spcPts val="1200"/>
              </a:spcAft>
              <a:defRPr sz="1500">
                <a:solidFill>
                  <a:srgbClr val="586069"/>
                </a:solidFill>
                <a:latin typeface="Aptos"/>
              </a:defRPr>
            </a:pPr>
            <a:r>
              <a:t>• Corrected pure-EV classification using manufacturer/fuel information.</a:t>
            </a:r>
          </a:p>
          <a:p>
            <a:pPr>
              <a:spcAft>
                <a:spcPts val="1200"/>
              </a:spcAft>
              <a:defRPr sz="1500">
                <a:solidFill>
                  <a:srgbClr val="586069"/>
                </a:solidFill>
                <a:latin typeface="Aptos"/>
              </a:defRPr>
            </a:pPr>
            <a:r>
              <a:t>• Set EV Engine_CC to 0 in the working model so EVs are not treated as conventional ICE engines.</a:t>
            </a:r>
          </a:p>
          <a:p>
            <a:pPr>
              <a:spcAft>
                <a:spcPts val="1200"/>
              </a:spcAft>
              <a:defRPr sz="1500">
                <a:solidFill>
                  <a:srgbClr val="586069"/>
                </a:solidFill>
                <a:latin typeface="Aptos"/>
              </a:defRPr>
            </a:pPr>
            <a:r>
              <a:t>• Corrected pure-EV emission norms to Not Applicable instead of assigning BS3/BS4/BS6.</a:t>
            </a:r>
          </a:p>
          <a:p>
            <a:pPr>
              <a:spcAft>
                <a:spcPts val="1200"/>
              </a:spcAft>
              <a:defRPr sz="1500">
                <a:solidFill>
                  <a:srgbClr val="586069"/>
                </a:solidFill>
                <a:latin typeface="Aptos"/>
              </a:defRPr>
            </a:pPr>
            <a:r>
              <a:t>• Validated target columns using info(), null counts and value counts.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8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62025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</a:rPr>
              <a:t>Vahan Vehicle Registration Data Analysis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D48"/>
                </a:solidFill>
                <a:latin typeface="Aptos Display"/>
              </a:rPr>
              <a:t>5. Important Data-Quality Correction: EVs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2560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4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73152" cy="1325880"/>
          </a:xfrm>
          <a:prstGeom prst="rect">
            <a:avLst/>
          </a:prstGeom>
          <a:solidFill>
            <a:srgbClr val="2E7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581912"/>
            <a:ext cx="224027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D48"/>
                </a:solidFill>
                <a:latin typeface="Aptos Display"/>
              </a:rPr>
              <a:t>968</a:t>
            </a:r>
          </a:p>
          <a:p>
            <a:r>
              <a:rPr sz="1000">
                <a:solidFill>
                  <a:srgbClr val="586069"/>
                </a:solidFill>
                <a:latin typeface="Aptos"/>
              </a:rPr>
              <a:t>EV Vehicles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417320"/>
            <a:ext cx="2560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4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0" y="1417320"/>
            <a:ext cx="73152" cy="1325880"/>
          </a:xfrm>
          <a:prstGeom prst="rect">
            <a:avLst/>
          </a:prstGeom>
          <a:solidFill>
            <a:srgbClr val="30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58768" y="1581912"/>
            <a:ext cx="224027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D48"/>
                </a:solidFill>
                <a:latin typeface="Aptos Display"/>
              </a:rPr>
              <a:t>2,732</a:t>
            </a:r>
          </a:p>
          <a:p>
            <a:r>
              <a:rPr sz="1000">
                <a:solidFill>
                  <a:srgbClr val="586069"/>
                </a:solidFill>
                <a:latin typeface="Aptos"/>
              </a:rPr>
              <a:t>Vehicles with applicable BS norms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417320"/>
            <a:ext cx="2560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4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1417320"/>
            <a:ext cx="73152" cy="1325880"/>
          </a:xfrm>
          <a:prstGeom prst="rect">
            <a:avLst/>
          </a:prstGeom>
          <a:solidFill>
            <a:srgbClr val="18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84848" y="1581912"/>
            <a:ext cx="224027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D48"/>
                </a:solidFill>
                <a:latin typeface="Aptos Display"/>
              </a:rPr>
              <a:t>3,700</a:t>
            </a:r>
          </a:p>
          <a:p>
            <a:r>
              <a:rPr sz="1000">
                <a:solidFill>
                  <a:srgbClr val="586069"/>
                </a:solidFill>
                <a:latin typeface="Aptos"/>
              </a:rPr>
              <a:t>Total registered vehicles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54680"/>
            <a:ext cx="10332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586069"/>
                </a:solidFill>
                <a:latin typeface="Aptos"/>
              </a:defRPr>
            </a:pPr>
            <a:r>
              <a:t>• Pure battery-electric vehicles do not have conventional tailpipe Bharat Stage classifications such as BS3, BS4 or BS6.</a:t>
            </a:r>
          </a:p>
          <a:p>
            <a:pPr>
              <a:spcAft>
                <a:spcPts val="1200"/>
              </a:spcAft>
              <a:defRPr sz="1600">
                <a:solidFill>
                  <a:srgbClr val="586069"/>
                </a:solidFill>
                <a:latin typeface="Aptos"/>
              </a:defRPr>
            </a:pPr>
            <a:r>
              <a:t>• EV records were therefore treated as Not Applicable for emission-norm analysis.</a:t>
            </a:r>
          </a:p>
          <a:p>
            <a:pPr>
              <a:spcAft>
                <a:spcPts val="1200"/>
              </a:spcAft>
              <a:defRPr sz="1600">
                <a:solidFill>
                  <a:srgbClr val="586069"/>
                </a:solidFill>
                <a:latin typeface="Aptos"/>
              </a:defRPr>
            </a:pPr>
            <a:r>
              <a:t>• This prevents EVs from distorting the BS3/BS4/BS6 comparison.</a:t>
            </a:r>
          </a:p>
          <a:p>
            <a:pPr>
              <a:spcAft>
                <a:spcPts val="1200"/>
              </a:spcAft>
              <a:defRPr sz="1600">
                <a:solidFill>
                  <a:srgbClr val="586069"/>
                </a:solidFill>
                <a:latin typeface="Aptos"/>
              </a:defRPr>
            </a:pPr>
            <a:r>
              <a:t>• EVs were also kept separate from ICE engine-displacement analysis.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8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662025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</a:rPr>
              <a:t>Vahan Vehicle Registration Data Analysis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D48"/>
                </a:solidFill>
                <a:latin typeface="Aptos Display"/>
              </a:rPr>
              <a:t>6. PostgreSQL / SQL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50">
                <a:solidFill>
                  <a:srgbClr val="586069"/>
                </a:solidFill>
                <a:latin typeface="Aptos"/>
              </a:defRPr>
            </a:pPr>
            <a:r>
              <a:t>• Loaded the cleaned Pandas DataFrame into PostgreSQL as vehicle_details.</a:t>
            </a:r>
          </a:p>
          <a:p>
            <a:pPr>
              <a:spcAft>
                <a:spcPts val="1200"/>
              </a:spcAft>
              <a:defRPr sz="1450">
                <a:solidFill>
                  <a:srgbClr val="586069"/>
                </a:solidFill>
                <a:latin typeface="Aptos"/>
              </a:defRPr>
            </a:pPr>
            <a:r>
              <a:t>• Used COUNT and COUNT(DISTINCT) to measure total and unique registered vehicles.</a:t>
            </a:r>
          </a:p>
          <a:p>
            <a:pPr>
              <a:spcAft>
                <a:spcPts val="1200"/>
              </a:spcAft>
              <a:defRPr sz="1450">
                <a:solidFill>
                  <a:srgbClr val="586069"/>
                </a:solidFill>
                <a:latin typeface="Aptos"/>
              </a:defRPr>
            </a:pPr>
            <a:r>
              <a:t>• Used GROUP BY and ORDER BY for year, state, fuel, category, manufacturer and emission-norm analysis.</a:t>
            </a:r>
          </a:p>
          <a:p>
            <a:pPr>
              <a:spcAft>
                <a:spcPts val="1200"/>
              </a:spcAft>
              <a:defRPr sz="1450">
                <a:solidFill>
                  <a:srgbClr val="586069"/>
                </a:solidFill>
                <a:latin typeface="Aptos"/>
              </a:defRPr>
            </a:pPr>
            <a:r>
              <a:t>• Used WHERE filters to isolate EVs, BS3/BS4/BS6 and other analytical segments.</a:t>
            </a:r>
          </a:p>
          <a:p>
            <a:pPr>
              <a:spcAft>
                <a:spcPts val="1200"/>
              </a:spcAft>
              <a:defRPr sz="1450">
                <a:solidFill>
                  <a:srgbClr val="586069"/>
                </a:solidFill>
                <a:latin typeface="Aptos"/>
              </a:defRPr>
            </a:pPr>
            <a:r>
              <a:t>• Used CASE expressions for analytical groups such as vehicle-age bands.</a:t>
            </a:r>
          </a:p>
          <a:p>
            <a:pPr>
              <a:spcAft>
                <a:spcPts val="1200"/>
              </a:spcAft>
              <a:defRPr sz="1450">
                <a:solidFill>
                  <a:srgbClr val="586069"/>
                </a:solidFill>
                <a:latin typeface="Aptos"/>
              </a:defRPr>
            </a:pPr>
            <a:r>
              <a:t>• Used ranking/window functions and LIMIT for Top-12 state and Top-N manufacturer analysis.</a:t>
            </a:r>
          </a:p>
          <a:p>
            <a:pPr>
              <a:spcAft>
                <a:spcPts val="1200"/>
              </a:spcAft>
              <a:defRPr sz="1450">
                <a:solidFill>
                  <a:srgbClr val="586069"/>
                </a:solidFill>
                <a:latin typeface="Aptos"/>
              </a:defRPr>
            </a:pPr>
            <a:r>
              <a:t>• Used cross-analysis queries such as Fuel Type × Emission Norm and State × Fuel.</a:t>
            </a:r>
          </a:p>
          <a:p>
            <a:pPr>
              <a:spcAft>
                <a:spcPts val="1200"/>
              </a:spcAft>
              <a:defRPr sz="1450">
                <a:solidFill>
                  <a:srgbClr val="586069"/>
                </a:solidFill>
                <a:latin typeface="Aptos"/>
              </a:defRPr>
            </a:pPr>
            <a:r>
              <a:t>• Used SQL queries as an independent validation layer for the Power BI results.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8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62025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</a:rPr>
              <a:t>Vahan Vehicle Registration Data Analysis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D48"/>
                </a:solidFill>
                <a:latin typeface="Aptos Display"/>
              </a:rPr>
              <a:t>7. Key SQL Analyses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E7D80"/>
                </a:solidFill>
                <a:latin typeface="Aptos"/>
              </a:rPr>
              <a:t>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2588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E7D80"/>
                </a:solidFill>
                <a:latin typeface="Aptos"/>
              </a:rPr>
              <a:t>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4937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82D48"/>
                </a:solidFill>
              </a:rPr>
              <a:t>Registration by year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91640"/>
            <a:ext cx="5029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86069"/>
                </a:solidFill>
              </a:rPr>
              <a:t>Understand temporal registration patterns.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03704"/>
            <a:ext cx="4937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82D48"/>
                </a:solidFill>
              </a:rPr>
              <a:t>State / RTO ranking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203704"/>
            <a:ext cx="5029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86069"/>
                </a:solidFill>
              </a:rPr>
              <a:t>Identify geographic concentration.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15768"/>
            <a:ext cx="4937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82D48"/>
                </a:solidFill>
              </a:rPr>
              <a:t>Fuel distribution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715768"/>
            <a:ext cx="5029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86069"/>
                </a:solidFill>
              </a:rPr>
              <a:t>Understand fleet fuel composition.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27832"/>
            <a:ext cx="4937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82D48"/>
                </a:solidFill>
              </a:rPr>
              <a:t>Manufacturer ranking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227832"/>
            <a:ext cx="5029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86069"/>
                </a:solidFill>
              </a:rPr>
              <a:t>Identify dominant brands.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39896"/>
            <a:ext cx="4937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82D48"/>
                </a:solidFill>
              </a:rPr>
              <a:t>Emission norm distribution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739896"/>
            <a:ext cx="5029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86069"/>
                </a:solidFill>
              </a:rPr>
              <a:t>Profile applicable BS standards.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51960"/>
            <a:ext cx="4937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82D48"/>
                </a:solidFill>
              </a:rPr>
              <a:t>Fuel × emission norm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251960"/>
            <a:ext cx="5029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86069"/>
                </a:solidFill>
              </a:rPr>
              <a:t>Compare regulatory profile across fuel segments.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64024"/>
            <a:ext cx="4937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82D48"/>
                </a:solidFill>
              </a:rPr>
              <a:t>Vehicle 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764024"/>
            <a:ext cx="5029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86069"/>
                </a:solidFill>
              </a:rPr>
              <a:t>Identify older fleet segments.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276088"/>
            <a:ext cx="4937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82D48"/>
                </a:solidFill>
              </a:rPr>
              <a:t>ICE engine displacement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5276088"/>
            <a:ext cx="5029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86069"/>
                </a:solidFill>
              </a:rPr>
              <a:t>Characterize conventional engine profile.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8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662025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</a:rPr>
              <a:t>Vahan Vehicle Registration Data Analysis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D48"/>
                </a:solidFill>
                <a:latin typeface="Aptos Display"/>
              </a:rPr>
              <a:t>8. Power BI — Data Modeling &amp; Dynamic Measures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586069"/>
                </a:solidFill>
                <a:latin typeface="Aptos"/>
              </a:defRPr>
            </a:pPr>
            <a:r>
              <a:t>• Created two dashboard-specific derived columns in Power BI: Vehicle_Age_Group and Engine_Size_Group.</a:t>
            </a:r>
          </a:p>
          <a:p>
            <a:pPr>
              <a:spcAft>
                <a:spcPts val="1200"/>
              </a:spcAft>
              <a:defRPr sz="1500">
                <a:solidFill>
                  <a:srgbClr val="586069"/>
                </a:solidFill>
                <a:latin typeface="Aptos"/>
              </a:defRPr>
            </a:pPr>
            <a:r>
              <a:t>• Vehicle_Age_Group: 0–2 Years, 3–5 Years, 6–10 Years and 10+ Years.</a:t>
            </a:r>
          </a:p>
          <a:p>
            <a:pPr>
              <a:spcAft>
                <a:spcPts val="1200"/>
              </a:spcAft>
              <a:defRPr sz="1500">
                <a:solidFill>
                  <a:srgbClr val="586069"/>
                </a:solidFill>
                <a:latin typeface="Aptos"/>
              </a:defRPr>
            </a:pPr>
            <a:r>
              <a:t>• Engine_Size_Group: &lt;1000 CC, 1000–1499 CC, 1500–1999 CC and 2000+ CC.</a:t>
            </a:r>
          </a:p>
          <a:p>
            <a:pPr>
              <a:spcAft>
                <a:spcPts val="1200"/>
              </a:spcAft>
              <a:defRPr sz="1500">
                <a:solidFill>
                  <a:srgbClr val="586069"/>
                </a:solidFill>
                <a:latin typeface="Aptos"/>
              </a:defRPr>
            </a:pPr>
            <a:r>
              <a:t>• Created dynamic DAX measures for Registered Vehicles, 2W Vehicles, 4W Vehicles, EV Vehicles, BS4 Vehicles and BS6 Vehicles.</a:t>
            </a:r>
          </a:p>
          <a:p>
            <a:pPr>
              <a:spcAft>
                <a:spcPts val="1200"/>
              </a:spcAft>
              <a:defRPr sz="1500">
                <a:solidFill>
                  <a:srgbClr val="586069"/>
                </a:solidFill>
                <a:latin typeface="Aptos"/>
              </a:defRPr>
            </a:pPr>
            <a:r>
              <a:t>• Created Average ICE Engine CC by excluding EVs from the engine-displacement average.</a:t>
            </a:r>
          </a:p>
          <a:p>
            <a:pPr>
              <a:spcAft>
                <a:spcPts val="1200"/>
              </a:spcAft>
              <a:defRPr sz="1500">
                <a:solidFill>
                  <a:srgbClr val="586069"/>
                </a:solidFill>
                <a:latin typeface="Aptos"/>
              </a:defRPr>
            </a:pPr>
            <a:r>
              <a:t>• Used slicers and visual interactions so dashboard metrics respond dynamically to user selections.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8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62025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</a:rPr>
              <a:t>Vahan Vehicle Registration Data Analysis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D48"/>
                </a:solidFill>
                <a:latin typeface="Aptos Display"/>
              </a:rPr>
              <a:t>9. Power BI Page 1 — Fleet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E7D80"/>
                </a:solidFill>
                <a:latin typeface="Aptos"/>
              </a:rPr>
              <a:t>SLICERS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586069"/>
                </a:solidFill>
                <a:latin typeface="Aptos"/>
              </a:defRPr>
            </a:pPr>
            <a:r>
              <a:t>• Year</a:t>
            </a:r>
          </a:p>
          <a:p>
            <a:pPr>
              <a:spcAft>
                <a:spcPts val="1200"/>
              </a:spcAft>
              <a:defRPr sz="1400">
                <a:solidFill>
                  <a:srgbClr val="586069"/>
                </a:solidFill>
                <a:latin typeface="Aptos"/>
              </a:defRPr>
            </a:pPr>
            <a:r>
              <a:t>• State</a:t>
            </a:r>
          </a:p>
          <a:p>
            <a:pPr>
              <a:spcAft>
                <a:spcPts val="1200"/>
              </a:spcAft>
              <a:defRPr sz="1400">
                <a:solidFill>
                  <a:srgbClr val="586069"/>
                </a:solidFill>
                <a:latin typeface="Aptos"/>
              </a:defRPr>
            </a:pPr>
            <a:r>
              <a:t>• Fuel 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123444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E7D80"/>
                </a:solidFill>
                <a:latin typeface="Aptos"/>
              </a:rPr>
              <a:t>KPI CARDS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94760" y="16002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586069"/>
                </a:solidFill>
                <a:latin typeface="Aptos"/>
              </a:defRPr>
            </a:pPr>
            <a:r>
              <a:t>• Registered Vehicles</a:t>
            </a:r>
          </a:p>
          <a:p>
            <a:pPr>
              <a:spcAft>
                <a:spcPts val="1200"/>
              </a:spcAft>
              <a:defRPr sz="1400">
                <a:solidFill>
                  <a:srgbClr val="586069"/>
                </a:solidFill>
                <a:latin typeface="Aptos"/>
              </a:defRPr>
            </a:pPr>
            <a:r>
              <a:t>• 2W Vehicles</a:t>
            </a:r>
          </a:p>
          <a:p>
            <a:pPr>
              <a:spcAft>
                <a:spcPts val="1200"/>
              </a:spcAft>
              <a:defRPr sz="1400">
                <a:solidFill>
                  <a:srgbClr val="586069"/>
                </a:solidFill>
                <a:latin typeface="Aptos"/>
              </a:defRPr>
            </a:pPr>
            <a:r>
              <a:t>• 4W Vehicles</a:t>
            </a:r>
          </a:p>
          <a:p>
            <a:pPr>
              <a:spcAft>
                <a:spcPts val="1200"/>
              </a:spcAft>
              <a:defRPr sz="1400">
                <a:solidFill>
                  <a:srgbClr val="586069"/>
                </a:solidFill>
                <a:latin typeface="Aptos"/>
              </a:defRPr>
            </a:pPr>
            <a:r>
              <a:t>• EV Vehicles</a:t>
            </a:r>
          </a:p>
          <a:p>
            <a:pPr>
              <a:spcAft>
                <a:spcPts val="1200"/>
              </a:spcAft>
              <a:defRPr sz="1400">
                <a:solidFill>
                  <a:srgbClr val="586069"/>
                </a:solidFill>
                <a:latin typeface="Aptos"/>
              </a:defRPr>
            </a:pPr>
            <a:r>
              <a:t>• Average Vehicle 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23444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E7D80"/>
                </a:solidFill>
                <a:latin typeface="Aptos"/>
              </a:rPr>
              <a:t>VISUALS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1600200"/>
            <a:ext cx="3566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586069"/>
                </a:solidFill>
                <a:latin typeface="Aptos"/>
              </a:defRPr>
            </a:pPr>
            <a:r>
              <a:t>• Registration by Year</a:t>
            </a:r>
          </a:p>
          <a:p>
            <a:pPr>
              <a:spcAft>
                <a:spcPts val="1200"/>
              </a:spcAft>
              <a:defRPr sz="1400">
                <a:solidFill>
                  <a:srgbClr val="586069"/>
                </a:solidFill>
                <a:latin typeface="Aptos"/>
              </a:defRPr>
            </a:pPr>
            <a:r>
              <a:t>• Vehicle Registrations by Category</a:t>
            </a:r>
          </a:p>
          <a:p>
            <a:pPr>
              <a:spcAft>
                <a:spcPts val="1200"/>
              </a:spcAft>
              <a:defRPr sz="1400">
                <a:solidFill>
                  <a:srgbClr val="586069"/>
                </a:solidFill>
                <a:latin typeface="Aptos"/>
              </a:defRPr>
            </a:pPr>
            <a:r>
              <a:t>• Top Manufacturers</a:t>
            </a:r>
          </a:p>
          <a:p>
            <a:pPr>
              <a:spcAft>
                <a:spcPts val="1200"/>
              </a:spcAft>
              <a:defRPr sz="1400">
                <a:solidFill>
                  <a:srgbClr val="586069"/>
                </a:solidFill>
                <a:latin typeface="Aptos"/>
              </a:defRPr>
            </a:pPr>
            <a:r>
              <a:t>• Leading States by Registered Vehicles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800600"/>
            <a:ext cx="2011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4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4800600"/>
            <a:ext cx="73152" cy="960120"/>
          </a:xfrm>
          <a:prstGeom prst="rect">
            <a:avLst/>
          </a:prstGeom>
          <a:solidFill>
            <a:srgbClr val="30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4965192"/>
            <a:ext cx="1691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D48"/>
                </a:solidFill>
                <a:latin typeface="Aptos Display"/>
              </a:rPr>
              <a:t>3,700</a:t>
            </a:r>
          </a:p>
          <a:p>
            <a:r>
              <a:rPr sz="1000">
                <a:solidFill>
                  <a:srgbClr val="586069"/>
                </a:solidFill>
                <a:latin typeface="Aptos"/>
              </a:rPr>
              <a:t>Registered Vehicles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4800600"/>
            <a:ext cx="2011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4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63240" y="4800600"/>
            <a:ext cx="73152" cy="960120"/>
          </a:xfrm>
          <a:prstGeom prst="rect">
            <a:avLst/>
          </a:prstGeom>
          <a:solidFill>
            <a:srgbClr val="2E7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64408" y="4965192"/>
            <a:ext cx="1691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D48"/>
                </a:solidFill>
                <a:latin typeface="Aptos Display"/>
              </a:rPr>
              <a:t>1,648</a:t>
            </a:r>
          </a:p>
          <a:p>
            <a:r>
              <a:rPr sz="1000">
                <a:solidFill>
                  <a:srgbClr val="586069"/>
                </a:solidFill>
                <a:latin typeface="Aptos"/>
              </a:rPr>
              <a:t>2W Vehicles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0" y="4800600"/>
            <a:ext cx="2011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4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03520" y="4800600"/>
            <a:ext cx="73152" cy="960120"/>
          </a:xfrm>
          <a:prstGeom prst="rect">
            <a:avLst/>
          </a:prstGeom>
          <a:solidFill>
            <a:srgbClr val="30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04688" y="4965192"/>
            <a:ext cx="1691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D48"/>
                </a:solidFill>
                <a:latin typeface="Aptos Display"/>
              </a:rPr>
              <a:t>1,160</a:t>
            </a:r>
          </a:p>
          <a:p>
            <a:r>
              <a:rPr sz="1000">
                <a:solidFill>
                  <a:srgbClr val="586069"/>
                </a:solidFill>
                <a:latin typeface="Aptos"/>
              </a:rPr>
              <a:t>4W Vehicles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4800600"/>
            <a:ext cx="2011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4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43800" y="4800600"/>
            <a:ext cx="73152" cy="960120"/>
          </a:xfrm>
          <a:prstGeom prst="rect">
            <a:avLst/>
          </a:prstGeom>
          <a:solidFill>
            <a:srgbClr val="2E7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4965192"/>
            <a:ext cx="1691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D48"/>
                </a:solidFill>
                <a:latin typeface="Aptos Display"/>
              </a:rPr>
              <a:t>968</a:t>
            </a:r>
          </a:p>
          <a:p>
            <a:r>
              <a:rPr sz="1000">
                <a:solidFill>
                  <a:srgbClr val="586069"/>
                </a:solidFill>
                <a:latin typeface="Aptos"/>
              </a:rPr>
              <a:t>EV Vehicles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8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662025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</a:rPr>
              <a:t>Vahan Vehicle Registration Data Analysis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D48"/>
                </a:solidFill>
                <a:latin typeface="Aptos Display"/>
              </a:rPr>
              <a:t>10. Power BI Page 2 — Emission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E7D80"/>
                </a:solidFill>
                <a:latin typeface="Aptos"/>
              </a:rPr>
              <a:t>SLICERS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50">
                <a:solidFill>
                  <a:srgbClr val="586069"/>
                </a:solidFill>
                <a:latin typeface="Aptos"/>
              </a:defRPr>
            </a:pPr>
            <a:r>
              <a:t>• Year</a:t>
            </a:r>
          </a:p>
          <a:p>
            <a:pPr>
              <a:spcAft>
                <a:spcPts val="1200"/>
              </a:spcAft>
              <a:defRPr sz="1350">
                <a:solidFill>
                  <a:srgbClr val="586069"/>
                </a:solidFill>
                <a:latin typeface="Aptos"/>
              </a:defRPr>
            </a:pPr>
            <a:r>
              <a:t>• State</a:t>
            </a:r>
          </a:p>
          <a:p>
            <a:pPr>
              <a:spcAft>
                <a:spcPts val="1200"/>
              </a:spcAft>
              <a:defRPr sz="1350">
                <a:solidFill>
                  <a:srgbClr val="586069"/>
                </a:solidFill>
                <a:latin typeface="Aptos"/>
              </a:defRPr>
            </a:pPr>
            <a:r>
              <a:t>• Fuel Type</a:t>
            </a:r>
          </a:p>
          <a:p>
            <a:pPr>
              <a:spcAft>
                <a:spcPts val="1200"/>
              </a:spcAft>
              <a:defRPr sz="1350">
                <a:solidFill>
                  <a:srgbClr val="586069"/>
                </a:solidFill>
                <a:latin typeface="Aptos"/>
              </a:defRPr>
            </a:pPr>
            <a:r>
              <a:t>• Emission Norm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11887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E7D80"/>
                </a:solidFill>
                <a:latin typeface="Aptos"/>
              </a:rPr>
              <a:t>KPI CARDS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94760" y="155448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50">
                <a:solidFill>
                  <a:srgbClr val="586069"/>
                </a:solidFill>
                <a:latin typeface="Aptos"/>
              </a:defRPr>
            </a:pPr>
            <a:r>
              <a:t>• Registered Vehicles</a:t>
            </a:r>
          </a:p>
          <a:p>
            <a:pPr>
              <a:spcAft>
                <a:spcPts val="1200"/>
              </a:spcAft>
              <a:defRPr sz="1350">
                <a:solidFill>
                  <a:srgbClr val="586069"/>
                </a:solidFill>
                <a:latin typeface="Aptos"/>
              </a:defRPr>
            </a:pPr>
            <a:r>
              <a:t>• BS6 Vehicles</a:t>
            </a:r>
          </a:p>
          <a:p>
            <a:pPr>
              <a:spcAft>
                <a:spcPts val="1200"/>
              </a:spcAft>
              <a:defRPr sz="1350">
                <a:solidFill>
                  <a:srgbClr val="586069"/>
                </a:solidFill>
                <a:latin typeface="Aptos"/>
              </a:defRPr>
            </a:pPr>
            <a:r>
              <a:t>• BS4 Vehicles</a:t>
            </a:r>
          </a:p>
          <a:p>
            <a:pPr>
              <a:spcAft>
                <a:spcPts val="1200"/>
              </a:spcAft>
              <a:defRPr sz="1350">
                <a:solidFill>
                  <a:srgbClr val="586069"/>
                </a:solidFill>
                <a:latin typeface="Aptos"/>
              </a:defRPr>
            </a:pPr>
            <a:r>
              <a:t>• EV Vehicles</a:t>
            </a:r>
          </a:p>
          <a:p>
            <a:pPr>
              <a:spcAft>
                <a:spcPts val="1200"/>
              </a:spcAft>
              <a:defRPr sz="1350">
                <a:solidFill>
                  <a:srgbClr val="586069"/>
                </a:solidFill>
                <a:latin typeface="Aptos"/>
              </a:defRPr>
            </a:pPr>
            <a:r>
              <a:t>• Average ICE Engine CC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1887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E7D80"/>
                </a:solidFill>
                <a:latin typeface="Aptos"/>
              </a:rPr>
              <a:t>VISUALS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1554480"/>
            <a:ext cx="3840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50">
                <a:solidFill>
                  <a:srgbClr val="586069"/>
                </a:solidFill>
                <a:latin typeface="Aptos"/>
              </a:defRPr>
            </a:pPr>
            <a:r>
              <a:t>• Emission Norm by Year</a:t>
            </a:r>
          </a:p>
          <a:p>
            <a:pPr>
              <a:spcAft>
                <a:spcPts val="1200"/>
              </a:spcAft>
              <a:defRPr sz="1350">
                <a:solidFill>
                  <a:srgbClr val="586069"/>
                </a:solidFill>
                <a:latin typeface="Aptos"/>
              </a:defRPr>
            </a:pPr>
            <a:r>
              <a:t>• Fuel × Emission Norm</a:t>
            </a:r>
          </a:p>
          <a:p>
            <a:pPr>
              <a:spcAft>
                <a:spcPts val="1200"/>
              </a:spcAft>
              <a:defRPr sz="1350">
                <a:solidFill>
                  <a:srgbClr val="586069"/>
                </a:solidFill>
                <a:latin typeface="Aptos"/>
              </a:defRPr>
            </a:pPr>
            <a:r>
              <a:t>• Registered Vehicles by Vehicle Age</a:t>
            </a:r>
          </a:p>
          <a:p>
            <a:pPr>
              <a:spcAft>
                <a:spcPts val="1200"/>
              </a:spcAft>
              <a:defRPr sz="1350">
                <a:solidFill>
                  <a:srgbClr val="586069"/>
                </a:solidFill>
                <a:latin typeface="Aptos"/>
              </a:defRPr>
            </a:pPr>
            <a:r>
              <a:t>• Category × Emission Norm</a:t>
            </a:r>
          </a:p>
          <a:p>
            <a:pPr>
              <a:spcAft>
                <a:spcPts val="1200"/>
              </a:spcAft>
              <a:defRPr sz="1350">
                <a:solidFill>
                  <a:srgbClr val="586069"/>
                </a:solidFill>
                <a:latin typeface="Aptos"/>
              </a:defRPr>
            </a:pPr>
            <a:r>
              <a:t>• Engine Size Distribution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892040"/>
            <a:ext cx="2057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4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4892040"/>
            <a:ext cx="73152" cy="914400"/>
          </a:xfrm>
          <a:prstGeom prst="rect">
            <a:avLst/>
          </a:prstGeom>
          <a:solidFill>
            <a:srgbClr val="30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5056631"/>
            <a:ext cx="1737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D48"/>
                </a:solidFill>
                <a:latin typeface="Aptos Display"/>
              </a:rPr>
              <a:t>2,277</a:t>
            </a:r>
          </a:p>
          <a:p>
            <a:r>
              <a:rPr sz="1000">
                <a:solidFill>
                  <a:srgbClr val="586069"/>
                </a:solidFill>
                <a:latin typeface="Aptos"/>
              </a:rPr>
              <a:t>BS6 Vehicles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4892040"/>
            <a:ext cx="2057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4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4892040"/>
            <a:ext cx="73152" cy="914400"/>
          </a:xfrm>
          <a:prstGeom prst="rect">
            <a:avLst/>
          </a:prstGeom>
          <a:solidFill>
            <a:srgbClr val="2E7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47288" y="5056631"/>
            <a:ext cx="1737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D48"/>
                </a:solidFill>
                <a:latin typeface="Aptos Display"/>
              </a:rPr>
              <a:t>451</a:t>
            </a:r>
          </a:p>
          <a:p>
            <a:r>
              <a:rPr sz="1000">
                <a:solidFill>
                  <a:srgbClr val="586069"/>
                </a:solidFill>
                <a:latin typeface="Aptos"/>
              </a:rPr>
              <a:t>BS4 Vehicles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77840" y="4892040"/>
            <a:ext cx="2057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4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577840" y="4892040"/>
            <a:ext cx="73152" cy="914400"/>
          </a:xfrm>
          <a:prstGeom prst="rect">
            <a:avLst/>
          </a:prstGeom>
          <a:solidFill>
            <a:srgbClr val="30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79007" y="5056631"/>
            <a:ext cx="1737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D48"/>
                </a:solidFill>
                <a:latin typeface="Aptos Display"/>
              </a:rPr>
              <a:t>968</a:t>
            </a:r>
          </a:p>
          <a:p>
            <a:r>
              <a:rPr sz="1000">
                <a:solidFill>
                  <a:srgbClr val="586069"/>
                </a:solidFill>
                <a:latin typeface="Aptos"/>
              </a:rPr>
              <a:t>EV Vehicles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4892040"/>
            <a:ext cx="2057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4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4892040"/>
            <a:ext cx="73152" cy="914400"/>
          </a:xfrm>
          <a:prstGeom prst="rect">
            <a:avLst/>
          </a:prstGeom>
          <a:solidFill>
            <a:srgbClr val="2E7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10728" y="5056631"/>
            <a:ext cx="1737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D48"/>
                </a:solidFill>
                <a:latin typeface="Aptos Display"/>
              </a:rPr>
              <a:t>1,294 CC</a:t>
            </a:r>
          </a:p>
          <a:p>
            <a:r>
              <a:rPr sz="1000">
                <a:solidFill>
                  <a:srgbClr val="586069"/>
                </a:solidFill>
                <a:latin typeface="Aptos"/>
              </a:rPr>
              <a:t>Average ICE Engine CC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8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662025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</a:rPr>
              <a:t>Vahan Vehicle Registration Data Analysis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D48"/>
                </a:solidFill>
                <a:latin typeface="Aptos Display"/>
              </a:rPr>
              <a:t>11. Key Findings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2011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4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73152" cy="1234440"/>
          </a:xfrm>
          <a:prstGeom prst="rect">
            <a:avLst/>
          </a:prstGeom>
          <a:solidFill>
            <a:srgbClr val="30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399032"/>
            <a:ext cx="16916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D48"/>
                </a:solidFill>
                <a:latin typeface="Aptos Display"/>
              </a:rPr>
              <a:t>3,700</a:t>
            </a:r>
          </a:p>
          <a:p>
            <a:r>
              <a:rPr sz="1000">
                <a:solidFill>
                  <a:srgbClr val="586069"/>
                </a:solidFill>
                <a:latin typeface="Aptos"/>
              </a:rPr>
              <a:t>Registered vehicles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1234440"/>
            <a:ext cx="2011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4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971800" y="1234440"/>
            <a:ext cx="73152" cy="1234440"/>
          </a:xfrm>
          <a:prstGeom prst="rect">
            <a:avLst/>
          </a:prstGeom>
          <a:solidFill>
            <a:srgbClr val="2E7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72968" y="1399032"/>
            <a:ext cx="16916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D48"/>
                </a:solidFill>
                <a:latin typeface="Aptos Display"/>
              </a:rPr>
              <a:t>1,648</a:t>
            </a:r>
          </a:p>
          <a:p>
            <a:r>
              <a:rPr sz="1000">
                <a:solidFill>
                  <a:srgbClr val="586069"/>
                </a:solidFill>
                <a:latin typeface="Aptos"/>
              </a:rPr>
              <a:t>2W vehicles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1234440"/>
            <a:ext cx="2011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4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12080" y="1234440"/>
            <a:ext cx="73152" cy="1234440"/>
          </a:xfrm>
          <a:prstGeom prst="rect">
            <a:avLst/>
          </a:prstGeom>
          <a:solidFill>
            <a:srgbClr val="30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13248" y="1399032"/>
            <a:ext cx="16916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D48"/>
                </a:solidFill>
                <a:latin typeface="Aptos Display"/>
              </a:rPr>
              <a:t>1,160</a:t>
            </a:r>
          </a:p>
          <a:p>
            <a:r>
              <a:rPr sz="1000">
                <a:solidFill>
                  <a:srgbClr val="586069"/>
                </a:solidFill>
                <a:latin typeface="Aptos"/>
              </a:rPr>
              <a:t>4W vehicles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1234440"/>
            <a:ext cx="2011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4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52360" y="1234440"/>
            <a:ext cx="73152" cy="1234440"/>
          </a:xfrm>
          <a:prstGeom prst="rect">
            <a:avLst/>
          </a:prstGeom>
          <a:solidFill>
            <a:srgbClr val="2E7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53528" y="1399032"/>
            <a:ext cx="16916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D48"/>
                </a:solidFill>
                <a:latin typeface="Aptos Display"/>
              </a:rPr>
              <a:t>968</a:t>
            </a:r>
          </a:p>
          <a:p>
            <a:r>
              <a:rPr sz="1000">
                <a:solidFill>
                  <a:srgbClr val="586069"/>
                </a:solidFill>
                <a:latin typeface="Aptos"/>
              </a:rPr>
              <a:t>EV vehicles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0" y="1234440"/>
            <a:ext cx="1737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4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92640" y="1234440"/>
            <a:ext cx="73152" cy="1234440"/>
          </a:xfrm>
          <a:prstGeom prst="rect">
            <a:avLst/>
          </a:prstGeom>
          <a:solidFill>
            <a:srgbClr val="30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93808" y="1399032"/>
            <a:ext cx="141731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D48"/>
                </a:solidFill>
                <a:latin typeface="Aptos Display"/>
              </a:rPr>
              <a:t>2,277</a:t>
            </a:r>
          </a:p>
          <a:p>
            <a:r>
              <a:rPr sz="1000">
                <a:solidFill>
                  <a:srgbClr val="586069"/>
                </a:solidFill>
                <a:latin typeface="Aptos"/>
              </a:rPr>
              <a:t>BS6 vehicles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834640"/>
            <a:ext cx="104241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586069"/>
                </a:solidFill>
                <a:latin typeface="Aptos"/>
              </a:defRPr>
            </a:pPr>
            <a:r>
              <a:t>• The working sample contains 3,700 vehicle-registration records.</a:t>
            </a:r>
          </a:p>
          <a:p>
            <a:pPr>
              <a:spcAft>
                <a:spcPts val="1200"/>
              </a:spcAft>
              <a:defRPr sz="1600">
                <a:solidFill>
                  <a:srgbClr val="586069"/>
                </a:solidFill>
                <a:latin typeface="Aptos"/>
              </a:defRPr>
            </a:pPr>
            <a:r>
              <a:t>• EVs account for 968 records and are analyzed separately from conventional Bharat Stage norms.</a:t>
            </a:r>
          </a:p>
          <a:p>
            <a:pPr>
              <a:spcAft>
                <a:spcPts val="1200"/>
              </a:spcAft>
              <a:defRPr sz="1600">
                <a:solidFill>
                  <a:srgbClr val="586069"/>
                </a:solidFill>
                <a:latin typeface="Aptos"/>
              </a:defRPr>
            </a:pPr>
            <a:r>
              <a:t>• Among vehicles with applicable BS classifications: BS6 = 2,277, BS4 = 451 and BS3 = 4.</a:t>
            </a:r>
          </a:p>
          <a:p>
            <a:pPr>
              <a:spcAft>
                <a:spcPts val="1200"/>
              </a:spcAft>
              <a:defRPr sz="1600">
                <a:solidFill>
                  <a:srgbClr val="586069"/>
                </a:solidFill>
                <a:latin typeface="Aptos"/>
              </a:defRPr>
            </a:pPr>
            <a:r>
              <a:t>• The dashboard shows strong geographic and manufacturer concentration in the leading segments.</a:t>
            </a:r>
          </a:p>
          <a:p>
            <a:pPr>
              <a:spcAft>
                <a:spcPts val="1200"/>
              </a:spcAft>
              <a:defRPr sz="1600">
                <a:solidFill>
                  <a:srgbClr val="586069"/>
                </a:solidFill>
                <a:latin typeface="Aptos"/>
              </a:defRPr>
            </a:pPr>
            <a:r>
              <a:t>• Vehicle age and engine-displacement groupings provide additional fleet-characterization dimensions.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8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662025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</a:rPr>
              <a:t>Vahan Vehicle Registration Data Analysis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D48"/>
                </a:solidFill>
                <a:latin typeface="Aptos Display"/>
              </a:rPr>
              <a:t>12.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586069"/>
                </a:solidFill>
                <a:latin typeface="Aptos"/>
              </a:defRPr>
            </a:pPr>
            <a:r>
              <a:t>• Registration counts describe the registered fleet, not actual vehicle usage.</a:t>
            </a:r>
          </a:p>
          <a:p>
            <a:pPr>
              <a:spcAft>
                <a:spcPts val="1200"/>
              </a:spcAft>
              <a:defRPr sz="1600">
                <a:solidFill>
                  <a:srgbClr val="586069"/>
                </a:solidFill>
                <a:latin typeface="Aptos"/>
              </a:defRPr>
            </a:pPr>
            <a:r>
              <a:t>• The dataset does not directly provide distance travelled, fuel consumption or real-world CO₂/CO₂e measurements.</a:t>
            </a:r>
          </a:p>
          <a:p>
            <a:pPr>
              <a:spcAft>
                <a:spcPts val="1200"/>
              </a:spcAft>
              <a:defRPr sz="1600">
                <a:solidFill>
                  <a:srgbClr val="586069"/>
                </a:solidFill>
                <a:latin typeface="Aptos"/>
              </a:defRPr>
            </a:pPr>
            <a:r>
              <a:t>• Emission norms are regulatory classifications and should not be interpreted as direct CO₂ measurements.</a:t>
            </a:r>
          </a:p>
          <a:p>
            <a:pPr>
              <a:spcAft>
                <a:spcPts val="1200"/>
              </a:spcAft>
              <a:defRPr sz="1600">
                <a:solidFill>
                  <a:srgbClr val="586069"/>
                </a:solidFill>
                <a:latin typeface="Aptos"/>
              </a:defRPr>
            </a:pPr>
            <a:r>
              <a:t>• The analysis is based on the supplied working dataset and its coverage should be considered when interpreting trends.</a:t>
            </a:r>
          </a:p>
          <a:p>
            <a:pPr>
              <a:spcAft>
                <a:spcPts val="1200"/>
              </a:spcAft>
              <a:defRPr sz="1600">
                <a:solidFill>
                  <a:srgbClr val="586069"/>
                </a:solidFill>
                <a:latin typeface="Aptos"/>
              </a:defRPr>
            </a:pPr>
            <a:r>
              <a:t>• Carbon-credit quantities were not calculated because the required activity and emission-factor inputs are outside the current dataset.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8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62025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</a:rPr>
              <a:t>Vahan Vehicle Registration Data Analysis  |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D48"/>
                </a:solidFill>
                <a:latin typeface="Aptos Display"/>
              </a:rPr>
              <a:t>13.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586069"/>
                </a:solidFill>
                <a:latin typeface="Aptos"/>
              </a:defRPr>
            </a:pPr>
            <a:r>
              <a:t>• Integrate vehicle-kilometres travelled, fuel/energy consumption or other activity data.</a:t>
            </a:r>
          </a:p>
          <a:p>
            <a:pPr>
              <a:spcAft>
                <a:spcPts val="1200"/>
              </a:spcAft>
              <a:defRPr sz="1600">
                <a:solidFill>
                  <a:srgbClr val="586069"/>
                </a:solidFill>
                <a:latin typeface="Aptos"/>
              </a:defRPr>
            </a:pPr>
            <a:r>
              <a:t>• Add validated emission factors to estimate CO₂e by vehicle segment.</a:t>
            </a:r>
          </a:p>
          <a:p>
            <a:pPr>
              <a:spcAft>
                <a:spcPts val="1200"/>
              </a:spcAft>
              <a:defRPr sz="1600">
                <a:solidFill>
                  <a:srgbClr val="586069"/>
                </a:solidFill>
                <a:latin typeface="Aptos"/>
              </a:defRPr>
            </a:pPr>
            <a:r>
              <a:t>• Develop baseline-versus-project scenarios for fleet modernization, cleaner fuels and electrification.</a:t>
            </a:r>
          </a:p>
          <a:p>
            <a:pPr>
              <a:spcAft>
                <a:spcPts val="1200"/>
              </a:spcAft>
              <a:defRPr sz="1600">
                <a:solidFill>
                  <a:srgbClr val="586069"/>
                </a:solidFill>
                <a:latin typeface="Aptos"/>
              </a:defRPr>
            </a:pPr>
            <a:r>
              <a:t>• Extend the dashboard with additional regional and vehicle-segment emission indicators.</a:t>
            </a:r>
          </a:p>
          <a:p>
            <a:pPr>
              <a:spcAft>
                <a:spcPts val="1200"/>
              </a:spcAft>
              <a:defRPr sz="1600">
                <a:solidFill>
                  <a:srgbClr val="586069"/>
                </a:solidFill>
                <a:latin typeface="Aptos"/>
              </a:defRPr>
            </a:pPr>
            <a:r>
              <a:t>• Investigate emission-reduction opportunities and, where appropriate, potential carbon-credit mechanisms.</a:t>
            </a:r>
          </a:p>
          <a:p>
            <a:pPr>
              <a:spcAft>
                <a:spcPts val="1200"/>
              </a:spcAft>
              <a:defRPr sz="1600">
                <a:solidFill>
                  <a:srgbClr val="586069"/>
                </a:solidFill>
                <a:latin typeface="Aptos"/>
              </a:defRPr>
            </a:pPr>
            <a:r>
              <a:t>• Automate the Pandas → PostgreSQL → Power BI refresh pipeline for future data updates.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8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62025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</a:rPr>
              <a:t>Vahan Vehicle Registration Data Analysis  |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D48"/>
                </a:solidFill>
                <a:latin typeface="Aptos Display"/>
              </a:rPr>
              <a:t>14.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586069"/>
                </a:solidFill>
                <a:latin typeface="Aptos"/>
              </a:defRPr>
            </a:pPr>
            <a:r>
              <a:t>• The project demonstrates a complete data-analytics workflow from raw vehicle-registration data to an interactive BI dashboard.</a:t>
            </a:r>
          </a:p>
          <a:p>
            <a:pPr>
              <a:spcAft>
                <a:spcPts val="1200"/>
              </a:spcAft>
              <a:defRPr sz="1600">
                <a:solidFill>
                  <a:srgbClr val="586069"/>
                </a:solidFill>
                <a:latin typeface="Aptos"/>
              </a:defRPr>
            </a:pPr>
            <a:r>
              <a:t>• Pandas was used for core data cleaning, standardization and validation.</a:t>
            </a:r>
          </a:p>
          <a:p>
            <a:pPr>
              <a:spcAft>
                <a:spcPts val="1200"/>
              </a:spcAft>
              <a:defRPr sz="1600">
                <a:solidFill>
                  <a:srgbClr val="586069"/>
                </a:solidFill>
                <a:latin typeface="Aptos"/>
              </a:defRPr>
            </a:pPr>
            <a:r>
              <a:t>• PostgreSQL/SQL provided a structured environment for reproducible aggregation and analytical querying.</a:t>
            </a:r>
          </a:p>
          <a:p>
            <a:pPr>
              <a:spcAft>
                <a:spcPts val="1200"/>
              </a:spcAft>
              <a:defRPr sz="1600">
                <a:solidFill>
                  <a:srgbClr val="586069"/>
                </a:solidFill>
                <a:latin typeface="Aptos"/>
              </a:defRPr>
            </a:pPr>
            <a:r>
              <a:t>• Power BI converted the cleaned data into dynamic KPIs, slicers and two interactive dashboard pages.</a:t>
            </a:r>
          </a:p>
          <a:p>
            <a:pPr>
              <a:spcAft>
                <a:spcPts val="1200"/>
              </a:spcAft>
              <a:defRPr sz="1600">
                <a:solidFill>
                  <a:srgbClr val="586069"/>
                </a:solidFill>
                <a:latin typeface="Aptos"/>
              </a:defRPr>
            </a:pPr>
            <a:r>
              <a:t>• The final analysis provides a strong baseline for understanding vehicle fleet composition and emission-related characteristics.</a:t>
            </a:r>
          </a:p>
          <a:p>
            <a:pPr>
              <a:spcAft>
                <a:spcPts val="1200"/>
              </a:spcAft>
              <a:defRPr sz="1600">
                <a:solidFill>
                  <a:srgbClr val="586069"/>
                </a:solidFill>
                <a:latin typeface="Aptos"/>
              </a:defRPr>
            </a:pPr>
            <a:r>
              <a:t>• The next stage for direct emission estimation is to integrate activity data and validated emission factors.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8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62025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</a:rPr>
              <a:t>Vahan Vehicle Registration Data Analysis  |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82D48"/>
                </a:solidFill>
                <a:latin typeface="Aptos Display"/>
              </a:rPr>
              <a:t>Report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828800"/>
            <a:ext cx="100584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305D91"/>
                </a:solidFill>
              </a:rPr>
              <a:t>Anurag Patil</a:t>
            </a:r>
          </a:p>
          <a:p>
            <a:r>
              <a:rPr sz="1600">
                <a:solidFill>
                  <a:srgbClr val="586069"/>
                </a:solidFill>
              </a:rPr>
              <a:t>B.Tech — Computer Science &amp; Engineering (Artificial Intelligence &amp; Machine Learning)</a:t>
            </a:r>
          </a:p>
          <a:p>
            <a:r>
              <a:rPr sz="1600">
                <a:solidFill>
                  <a:srgbClr val="586069"/>
                </a:solidFill>
              </a:rPr>
              <a:t>Project: Vahan Vehicle Registration Data Analysis</a:t>
            </a:r>
          </a:p>
          <a:p>
            <a:r>
              <a:rPr sz="1400">
                <a:solidFill>
                  <a:srgbClr val="586069"/>
                </a:solidFill>
              </a:rPr>
              <a:t>Python (Pandas)  |  PostgreSQL / SQL  |  Microsoft Power BI</a:t>
            </a:r>
          </a:p>
          <a:p>
            <a:r>
              <a:rPr sz="1300" i="1">
                <a:solidFill>
                  <a:srgbClr val="2E7D80"/>
                </a:solidFill>
              </a:rPr>
              <a:t>Data Analysis Project —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8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62025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</a:rPr>
              <a:t>Vahan Vehicle Registration Data Analysis  | 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